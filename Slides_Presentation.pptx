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Old Standard TT"/>
      <p:regular r:id="rId15"/>
      <p:bold r:id="rId16"/>
      <p:italic r:id="rId17"/>
    </p:embeddedFont>
    <p:embeddedFont>
      <p:font typeface="Trebuchet MS" panose="020B0703020202090204" pitchFamily="34" charset="0"/>
      <p:regular r:id="rId18"/>
      <p:bold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>
      <p:cViewPr varScale="1">
        <p:scale>
          <a:sx n="153" d="100"/>
          <a:sy n="153" d="100"/>
        </p:scale>
        <p:origin x="3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83e8b0a46a_2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183e8b0a46a_2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83e8b0a46a_2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183e8b0a46a_2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83e8b0a46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" name="Google Shape;80;g183e8b0a46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So these are graphs for problem 1 and (next slide)</a:t>
            </a:r>
            <a:endParaRPr sz="8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83e8b0a46a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0" name="Google Shape;90;g183e8b0a46a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This is the heat map for prob 1. So using heatmap,</a:t>
            </a:r>
            <a:r>
              <a:rPr lang="en">
                <a:solidFill>
                  <a:schemeClr val="dk1"/>
                </a:solidFill>
              </a:rPr>
              <a:t> the relationship are a bit clearer. In this case, age and marriage are the two factors with highest correlation</a:t>
            </a:r>
            <a:endParaRPr sz="8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83e8b0a46a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1" name="Google Shape;101;g183e8b0a46a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the dataset —&gt; removed parts with null data, and weird data ( others for gender)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83e8b0a46a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9" name="Google Shape;109;g183e8b0a46a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we have achieved the same number of count for both cases.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83e8b0a46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5" name="Google Shape;115;g183e8b0a46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you can see for the problem 1, by oversampling, the recall rate for the minority increases drastically and the data is still accurate enough to use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83e8b0a46a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6" name="Google Shape;126;g183e8b0a46a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same can be said for problem 2. Now, we can use the data to determine the factors for prediction.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83e8b0a46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8" name="Google Shape;138;g183e8b0a46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83e8b0a46a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6" name="Google Shape;156;g183e8b0a46a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83e8b0a46a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" name="Google Shape;164;g183e8b0a46a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83e8b0a46a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3" name="Google Shape;173;g183e8b0a46a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 rtl="0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 rtl="0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 rtl="0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 rtl="0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 rtl="0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 rtl="0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 rtl="0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 rtl="0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 rtl="0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r="20744" b="-2"/>
          <a:stretch/>
        </p:blipFill>
        <p:spPr>
          <a:xfrm>
            <a:off x="3365500" y="0"/>
            <a:ext cx="5778500" cy="5158401"/>
          </a:xfrm>
          <a:custGeom>
            <a:avLst/>
            <a:gdLst/>
            <a:ahLst/>
            <a:cxnLst/>
            <a:rect l="l" t="t" r="r" b="b"/>
            <a:pathLst>
              <a:path w="7704667" h="6877878" extrusionOk="0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ctrTitle"/>
          </p:nvPr>
        </p:nvSpPr>
        <p:spPr>
          <a:xfrm>
            <a:off x="245318" y="948133"/>
            <a:ext cx="4842071" cy="230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Trebuchet MS"/>
              <a:buNone/>
            </a:pPr>
            <a:r>
              <a:rPr lang="en" dirty="0"/>
              <a:t>ML &amp; AI</a:t>
            </a:r>
            <a:r>
              <a:rPr lang="en" sz="4200" dirty="0"/>
              <a:t> Project EL01 Group 5</a:t>
            </a:r>
            <a:endParaRPr dirty="0"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1"/>
          </p:nvPr>
        </p:nvSpPr>
        <p:spPr>
          <a:xfrm>
            <a:off x="476960" y="3728594"/>
            <a:ext cx="3121768" cy="1182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6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" dirty="0">
                <a:solidFill>
                  <a:schemeClr val="dk1"/>
                </a:solidFill>
              </a:rPr>
              <a:t>Tay Yuyang U2121493L</a:t>
            </a:r>
            <a:br>
              <a:rPr lang="en" dirty="0">
                <a:solidFill>
                  <a:schemeClr val="dk1"/>
                </a:solidFill>
              </a:rPr>
            </a:br>
            <a:endParaRPr lang="en" dirty="0"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" dirty="0">
                <a:solidFill>
                  <a:schemeClr val="dk1"/>
                </a:solidFill>
              </a:rPr>
              <a:t>Apichart Yapakdee U2121244G</a:t>
            </a:r>
            <a:endParaRPr dirty="0"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SzPct val="45833"/>
              <a:buNone/>
            </a:pPr>
            <a:r>
              <a:rPr lang="en" dirty="0">
                <a:solidFill>
                  <a:schemeClr val="dk1"/>
                </a:solidFill>
              </a:rPr>
              <a:t>Wai Yan Myint U2121943F </a:t>
            </a:r>
            <a:endParaRPr dirty="0"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SzPct val="45833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lang="en" sz="2500"/>
              <a:t>Dataset</a:t>
            </a:r>
            <a:endParaRPr sz="2500"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8598"/>
            <a:ext cx="3421851" cy="266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7350" y="564300"/>
            <a:ext cx="3153948" cy="257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7500" y="258838"/>
            <a:ext cx="2051326" cy="34844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550500" y="3743246"/>
            <a:ext cx="6447600" cy="1388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159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ld Standard TT"/>
              <a:buChar char="●"/>
            </a:pPr>
            <a:r>
              <a:rPr lang="en" sz="1500"/>
              <a:t>Determine whether demographical data or health data is better for predicting outcome of stroke, and creating model for predicting stroke.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30"/>
              <a:t>Split into,</a:t>
            </a:r>
            <a:endParaRPr sz="123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30"/>
              <a:t>Problem 1: From Demographic perspective</a:t>
            </a:r>
            <a:endParaRPr sz="123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30"/>
              <a:t>Problem 2: From Health perspective</a:t>
            </a:r>
            <a:endParaRPr sz="123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30"/>
          </a:p>
        </p:txBody>
      </p:sp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297575" y="3227550"/>
            <a:ext cx="9054600" cy="921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Objective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/>
        </p:nvSpPr>
        <p:spPr>
          <a:xfrm>
            <a:off x="0" y="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Exploratory Analysis</a:t>
            </a:r>
            <a:endParaRPr sz="2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1" y="506767"/>
            <a:ext cx="6447600" cy="291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Problem 1</a:t>
            </a: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3103101" y="569392"/>
            <a:ext cx="6447600" cy="291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Problem 2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6792825" y="569400"/>
            <a:ext cx="19722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We decided on logistic regression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Outcome or dependent variable is binary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Logistic regression is used to predict binary outcomes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Independent variable fairly linearly with log odd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Hence log regression can help us create a model or models to predict stroke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72" y="979500"/>
            <a:ext cx="3007726" cy="3653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3395" y="940650"/>
            <a:ext cx="3142831" cy="365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0" y="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Exploratory Analysis</a:t>
            </a:r>
            <a:endParaRPr sz="2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1" y="600292"/>
            <a:ext cx="6447600" cy="291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Problem 1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50" y="1275250"/>
            <a:ext cx="3618050" cy="2771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4089301" y="569392"/>
            <a:ext cx="6447600" cy="291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Problem 2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6375" y="1255775"/>
            <a:ext cx="3373689" cy="27712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7379425" y="884175"/>
            <a:ext cx="16716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For demographics,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we decided to focus on: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Age: 0.25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Married: 0.11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7379425" y="2498825"/>
            <a:ext cx="16716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For health,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we decided to focus on: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Hypertension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Heart Disease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Average glucose level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Each at 0.14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68025" y="2424150"/>
            <a:ext cx="9144000" cy="99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Preparing the dataset: Tackling the unbalanced data</a:t>
            </a:r>
            <a:endParaRPr sz="2500"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0" y="3414750"/>
            <a:ext cx="9144000" cy="1584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minority (stroke) is too few in comparison to majority (without stroke)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Oversampling of the minority</a:t>
            </a:r>
            <a:endParaRPr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Synthetic Minority Oversampling Technique (SMOTE)</a:t>
            </a:r>
            <a:endParaRPr sz="17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Clean the dataset: Dataset was already unique, only needed to remove missing values no duplicates</a:t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0" y="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From Exploratory Analysis</a:t>
            </a:r>
            <a:endParaRPr sz="2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85050" y="569400"/>
            <a:ext cx="9144000" cy="2026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 reason for low correlation :</a:t>
            </a:r>
            <a:endParaRPr/>
          </a:p>
          <a:p>
            <a:pPr marL="914400" lvl="0" indent="-3365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number of data with stroke is low compared to without stroke. (249 vs 4860)</a:t>
            </a:r>
            <a:endParaRPr sz="1700"/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Resulted in the algorithms to be biased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Therefore, there is a need to make sure the dataset is balanced.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Preparing the dataset: Tackling the unbalanced data</a:t>
            </a:r>
            <a:endParaRPr sz="2500"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3000"/>
            <a:ext cx="659845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Preparing the dataset</a:t>
            </a:r>
            <a:endParaRPr sz="2500"/>
          </a:p>
        </p:txBody>
      </p:sp>
      <p:sp>
        <p:nvSpPr>
          <p:cNvPr id="118" name="Google Shape;118;p20"/>
          <p:cNvSpPr txBox="1"/>
          <p:nvPr/>
        </p:nvSpPr>
        <p:spPr>
          <a:xfrm>
            <a:off x="203600" y="1596625"/>
            <a:ext cx="31611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                      precision    recall  f1-score   support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        0.0              0.95      1.00      0.97        1944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        1.0              0.00      0.00      0.00         100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accuracy                                       0.95          2044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macro avg            0.48      0.50     0.49         2044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weighted avg       0.90      0.95      0.93         2044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5614975" y="1650200"/>
            <a:ext cx="33861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                   precision    recall  f1-score   support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        0.0             0.80       0.71      0.75      1944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        1.0             0.74       0.82      0.78      1944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accuracy                                        0.77      3888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macro avg           0.77      0.77      0.76      3888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weighted avg       0.77      0.77      0.76      3888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3600488" y="2282425"/>
            <a:ext cx="1778700" cy="664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0" y="590400"/>
            <a:ext cx="278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Problem 1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1125150" y="1221575"/>
            <a:ext cx="169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Before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6772275" y="1232300"/>
            <a:ext cx="141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After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Preparing the dataset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129" name="Google Shape;129;p21"/>
          <p:cNvSpPr/>
          <p:nvPr/>
        </p:nvSpPr>
        <p:spPr>
          <a:xfrm>
            <a:off x="3600488" y="2282425"/>
            <a:ext cx="1778700" cy="664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1125150" y="878675"/>
            <a:ext cx="278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1125150" y="1221575"/>
            <a:ext cx="169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Before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6772275" y="1232300"/>
            <a:ext cx="141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After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117875" y="1632500"/>
            <a:ext cx="3375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                    precision    recall  f1-score   support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        0.0              0.95      1.00      0.97      1299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        1.0              0.00      0.00      0.00        72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accuracy                                       0.95      1371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macro avg           0.47      0.50      0.49      1371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weighted avg       0.90      0.95      0.92      1371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5636400" y="1632500"/>
            <a:ext cx="3507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                      precision    recall  f1-score   support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        0.0              0.65      0.77      0.70      1298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        1.0              0.72      0.59      0.65      1299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 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accuracy                                        0.68      2597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macro avg            0.68      0.68      0.68      2597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marL="0" marR="50800" lvl="0" indent="0" algn="l" rtl="0">
              <a:lnSpc>
                <a:spcPct val="1214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accent1"/>
                </a:highlight>
              </a:rPr>
              <a:t>weighted avg       0.68      0.68      0.68      2597</a:t>
            </a:r>
            <a:endParaRPr sz="1050">
              <a:solidFill>
                <a:schemeClr val="dk1"/>
              </a:solidFill>
              <a:highlight>
                <a:schemeClr val="accent1"/>
              </a:highlight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0" y="590400"/>
            <a:ext cx="278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Problem 2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Use of data science/ machine learning to solve the problem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141" name="Google Shape;141;p22"/>
          <p:cNvSpPr txBox="1"/>
          <p:nvPr/>
        </p:nvSpPr>
        <p:spPr>
          <a:xfrm>
            <a:off x="187975" y="2600125"/>
            <a:ext cx="16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Problem 2 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291250" y="4493250"/>
            <a:ext cx="1868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Hypertension: accuracy 0.66 (2 d.p)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6631300" y="4493250"/>
            <a:ext cx="214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Heart disease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accuracy 0.64 (2 d.p)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972" y="3223800"/>
            <a:ext cx="2074653" cy="139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6450" y="3112738"/>
            <a:ext cx="2074700" cy="139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6860" y="3061825"/>
            <a:ext cx="2226438" cy="149419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3566988" y="4493250"/>
            <a:ext cx="201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Average Glucose Level: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accuracy 0.64 (2 d.p)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028" y="998572"/>
            <a:ext cx="2145000" cy="143957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2721975" y="1273075"/>
            <a:ext cx="200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Age: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accuracy 0.83 (2 d.p)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891237"/>
            <a:ext cx="2363550" cy="158622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7022350" y="1376538"/>
            <a:ext cx="200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Marriage: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accuracy 0.63 (2 d.p)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241575" y="385425"/>
            <a:ext cx="568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Univariate independent variables against stroke (dependent)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93850" y="622000"/>
            <a:ext cx="16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Problem 1 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body" idx="1"/>
          </p:nvPr>
        </p:nvSpPr>
        <p:spPr>
          <a:xfrm>
            <a:off x="100825" y="816778"/>
            <a:ext cx="7614300" cy="3844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190500" lvl="0" indent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highlight>
                  <a:schemeClr val="accent1"/>
                </a:highlight>
              </a:rPr>
              <a:t>For multivariate logistic regression</a:t>
            </a:r>
            <a:endParaRPr b="1"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accent1"/>
                </a:highlight>
              </a:rPr>
              <a:t>Both health and demographic factors are good predictors, with both exceeding the 70% mark:</a:t>
            </a:r>
            <a:endParaRPr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1"/>
                </a:highlight>
              </a:rPr>
              <a:t>Health : 74%  </a:t>
            </a:r>
            <a:endParaRPr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accent1"/>
                </a:highlight>
              </a:rPr>
              <a:t>Demographic :83%</a:t>
            </a:r>
            <a:endParaRPr>
              <a:highlight>
                <a:schemeClr val="accent1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Use of data science/ machine learning to solve the problem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525" y="2498451"/>
            <a:ext cx="2812876" cy="176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3725" y="2409900"/>
            <a:ext cx="2812875" cy="176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99725" y="0"/>
            <a:ext cx="2418000" cy="99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Outcomes</a:t>
            </a:r>
            <a:endParaRPr sz="2500"/>
          </a:p>
        </p:txBody>
      </p:sp>
      <p:sp>
        <p:nvSpPr>
          <p:cNvPr id="167" name="Google Shape;167;p24"/>
          <p:cNvSpPr txBox="1">
            <a:spLocks noGrp="1"/>
          </p:cNvSpPr>
          <p:nvPr>
            <p:ph type="body" idx="1"/>
          </p:nvPr>
        </p:nvSpPr>
        <p:spPr>
          <a:xfrm>
            <a:off x="156000" y="531475"/>
            <a:ext cx="8529600" cy="2197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457200" lvl="0" indent="-323850" algn="l" rtl="0">
              <a:spcBef>
                <a:spcPts val="1100"/>
              </a:spcBef>
              <a:spcAft>
                <a:spcPts val="0"/>
              </a:spcAft>
              <a:buSzPts val="1500"/>
              <a:buFont typeface="Old Standard TT"/>
              <a:buChar char="●"/>
            </a:pPr>
            <a:r>
              <a:rPr lang="en" sz="1500">
                <a:highlight>
                  <a:schemeClr val="accent1"/>
                </a:highlight>
              </a:rPr>
              <a:t>Age remains the most accurate at 83.40%</a:t>
            </a:r>
            <a:endParaRPr sz="1500">
              <a:highlight>
                <a:schemeClr val="accent1"/>
              </a:highlight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●"/>
            </a:pPr>
            <a:r>
              <a:rPr lang="en" sz="1500">
                <a:highlight>
                  <a:schemeClr val="accent1"/>
                </a:highlight>
              </a:rPr>
              <a:t>Demographic perspective has a higher accuracy compared to health perspective </a:t>
            </a:r>
            <a:endParaRPr sz="1500">
              <a:highlight>
                <a:schemeClr val="accent1"/>
              </a:highlight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Old Standard TT"/>
              <a:buChar char="●"/>
            </a:pPr>
            <a:r>
              <a:rPr lang="en" sz="1500">
                <a:highlight>
                  <a:schemeClr val="accent1"/>
                </a:highlight>
              </a:rPr>
              <a:t>Multivariate logistic regression for health factors creates a more accurate model than its univariate counterparts.</a:t>
            </a:r>
            <a:endParaRPr sz="1500">
              <a:highlight>
                <a:schemeClr val="accent1"/>
              </a:highlight>
            </a:endParaRPr>
          </a:p>
          <a:p>
            <a:pPr marL="45720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accent1"/>
                </a:highlight>
              </a:rPr>
              <a:t>Hence,</a:t>
            </a:r>
            <a:endParaRPr sz="1500">
              <a:highlight>
                <a:schemeClr val="accent1"/>
              </a:highlight>
            </a:endParaRPr>
          </a:p>
          <a:p>
            <a:pPr marL="457200" lvl="0" indent="0" algn="l" rtl="0">
              <a:spcBef>
                <a:spcPts val="1100"/>
              </a:spcBef>
              <a:spcAft>
                <a:spcPts val="700"/>
              </a:spcAft>
              <a:buNone/>
            </a:pPr>
            <a:r>
              <a:rPr lang="en" sz="1500">
                <a:highlight>
                  <a:schemeClr val="accent1"/>
                </a:highlight>
              </a:rPr>
              <a:t>We managed to determine demographic to be a better predictor, and create 3 models that are accurate, multivariate health, multivariate demographic, univariate age</a:t>
            </a:r>
            <a:endParaRPr sz="1500"/>
          </a:p>
        </p:txBody>
      </p:sp>
      <p:sp>
        <p:nvSpPr>
          <p:cNvPr id="168" name="Google Shape;168;p24"/>
          <p:cNvSpPr txBox="1"/>
          <p:nvPr/>
        </p:nvSpPr>
        <p:spPr>
          <a:xfrm>
            <a:off x="476100" y="4137650"/>
            <a:ext cx="7889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Old Standard TT"/>
                <a:ea typeface="Old Standard TT"/>
                <a:cs typeface="Old Standard TT"/>
                <a:sym typeface="Old Standard TT"/>
              </a:rPr>
              <a:t>Yu Yang: Slides and data </a:t>
            </a:r>
            <a:r>
              <a:rPr lang="en" sz="1500" dirty="0" err="1">
                <a:latin typeface="Old Standard TT"/>
                <a:ea typeface="Old Standard TT"/>
                <a:cs typeface="Old Standard TT"/>
                <a:sym typeface="Old Standard TT"/>
              </a:rPr>
              <a:t>visualisation</a:t>
            </a:r>
            <a:endParaRPr sz="1500" dirty="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Old Standard TT"/>
                <a:ea typeface="Old Standard TT"/>
                <a:cs typeface="Old Standard TT"/>
                <a:sym typeface="Old Standard TT"/>
              </a:rPr>
              <a:t>Wai Yan: Problem 1 data preparation, SMOTE for both problem 1 &amp; 2</a:t>
            </a:r>
            <a:endParaRPr sz="1500" dirty="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Old Standard TT"/>
                <a:ea typeface="Old Standard TT"/>
                <a:cs typeface="Old Standard TT"/>
                <a:sym typeface="Old Standard TT"/>
              </a:rPr>
              <a:t>Apichart: Problem 2 data preparation, all of the logistic regression</a:t>
            </a:r>
            <a:endParaRPr sz="1500" dirty="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442075" y="3698225"/>
            <a:ext cx="342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ld Standard TT"/>
                <a:ea typeface="Old Standard TT"/>
                <a:cs typeface="Old Standard TT"/>
                <a:sym typeface="Old Standard TT"/>
              </a:rPr>
              <a:t>Roles</a:t>
            </a:r>
            <a:endParaRPr sz="24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314575" y="2866925"/>
            <a:ext cx="7081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Tools used: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Out of course: SMOTE for data prep, Logistic Regression for models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In course techniques: to remove missing data, and data visualisation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17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References</a:t>
            </a:r>
            <a:endParaRPr sz="2500"/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1"/>
          </p:nvPr>
        </p:nvSpPr>
        <p:spPr>
          <a:xfrm>
            <a:off x="0" y="525000"/>
            <a:ext cx="9144000" cy="4618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70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Data we used: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https://www.kaggle.com/datasets/fedesoriano/stroke-prediction-dataset?resource=download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For logistic regression: 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https://realpython.com/logistic-regression-python/#logistic-regression-in-python-with-scikit-learn-example-1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https://towardsdatascience.com/logistic-regression-for-binary-classification-56a2402e62e6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https://www.nickmccullum.com/python-machine-learning/logistic-regression-python/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https://www.statology.org/logistic-regression-python/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SMOTE technique: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https://www.geeksforgeeks.org/introduction-to-resampling-methods/\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https://towardsdatascience.com/5-smote-techniques-for-oversampling-your-imbalance-data-b8155bdbe2b5\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https://imbalanced-learn.org/stable/over_sampling.html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https://machinelearningmastery.com/random-oversampling-and-undersampling-for-imbalanced-classification/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Documentation: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https://pandas.pydata.org/docs/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https://scikit-learn.org/stable/user_guide.html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https://imbalanced-learn.org/stable/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https://numpy.org/doc/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https://matplotlib.org/stable/index.html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https://docs.python.org/3/library/re.html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https://docs.python.org/3/library/collections.html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https://docs.python.org/3/index.html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969</Words>
  <Application>Microsoft Macintosh PowerPoint</Application>
  <PresentationFormat>On-screen Show (16:9)</PresentationFormat>
  <Paragraphs>150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Old Standard TT</vt:lpstr>
      <vt:lpstr>Paperback</vt:lpstr>
      <vt:lpstr>ML &amp; AI Project EL01 Group 5</vt:lpstr>
      <vt:lpstr>Dataset</vt:lpstr>
      <vt:lpstr>PowerPoint Presentation</vt:lpstr>
      <vt:lpstr>PowerPoint Presentation</vt:lpstr>
      <vt:lpstr>Preparing the dataset: Tackling the unbalanced data</vt:lpstr>
      <vt:lpstr>Preparing the dataset: Tackling the unbalanced data</vt:lpstr>
      <vt:lpstr>Preparing the dataset</vt:lpstr>
      <vt:lpstr>Preparing the dataset </vt:lpstr>
      <vt:lpstr>Use of data science/ machine learning to solve the problem  </vt:lpstr>
      <vt:lpstr>Use of data science/ machine learning to solve the problem  </vt:lpstr>
      <vt:lpstr>Outcomes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#APICHART YAPAKDEE#</cp:lastModifiedBy>
  <cp:revision>2</cp:revision>
  <dcterms:modified xsi:type="dcterms:W3CDTF">2026-10-06T08:56:18Z</dcterms:modified>
</cp:coreProperties>
</file>